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6ecbd3cc64f50" /><Relationship Type="http://schemas.openxmlformats.org/officeDocument/2006/relationships/extended-properties" Target="/docProps/app.xml" Id="R1aca8e75b7f44091" /><Relationship Type="http://schemas.openxmlformats.org/officeDocument/2006/relationships/officeDocument" Target="/ppt/presentation.xml" Id="Rcfc35345cbcf4a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5dfe48aad46f6"/>
  </p:sldMasterIdLst>
  <p:notesMasterIdLst>
    <p:notesMasterId xmlns:r="http://schemas.openxmlformats.org/officeDocument/2006/relationships" r:id="Rf27be4d97e404d25"/>
  </p:notesMasterIdLst>
  <p:sldIdLst>
    <p:sldId xmlns:r="http://schemas.openxmlformats.org/officeDocument/2006/relationships" id="256" r:id="Rfc5f8b01d2c240cf"/>
    <p:sldId xmlns:r="http://schemas.openxmlformats.org/officeDocument/2006/relationships" id="257" r:id="R1f6e58928b6744db"/>
    <p:sldId xmlns:r="http://schemas.openxmlformats.org/officeDocument/2006/relationships" id="258" r:id="R7a0d91b650574e17"/>
    <p:sldId xmlns:r="http://schemas.openxmlformats.org/officeDocument/2006/relationships" id="259" r:id="R0dd93b86ead846ba"/>
    <p:sldId xmlns:r="http://schemas.openxmlformats.org/officeDocument/2006/relationships" id="260" r:id="Rc425468334564d03"/>
    <p:sldId xmlns:r="http://schemas.openxmlformats.org/officeDocument/2006/relationships" id="261" r:id="Re6382d140c494e18"/>
    <p:sldId xmlns:r="http://schemas.openxmlformats.org/officeDocument/2006/relationships" id="262" r:id="R8f1b6edcaeab456f"/>
    <p:sldId xmlns:r="http://schemas.openxmlformats.org/officeDocument/2006/relationships" id="263" r:id="R0b0578092c164a3f"/>
    <p:sldId xmlns:r="http://schemas.openxmlformats.org/officeDocument/2006/relationships" id="264" r:id="R9b3cefc2f8b94bbf"/>
    <p:sldId xmlns:r="http://schemas.openxmlformats.org/officeDocument/2006/relationships" id="265" r:id="R280793626e2e43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5dfe48aad46f6" /><Relationship Type="http://schemas.openxmlformats.org/officeDocument/2006/relationships/theme" Target="/ppt/theme/theme1.xml" Id="R3d73a2b2a6534e2c" /><Relationship Type="http://schemas.openxmlformats.org/officeDocument/2006/relationships/notesMaster" Target="/ppt/notesMasters/notesMaster1.xml" Id="Rf27be4d97e404d25" /><Relationship Type="http://schemas.openxmlformats.org/officeDocument/2006/relationships/presProps" Target="/ppt/presProps.xml" Id="Rc4d3996eafa84526" /><Relationship Type="http://schemas.openxmlformats.org/officeDocument/2006/relationships/viewProps" Target="/ppt/viewProps.xml" Id="R507fbaaefc8642e8" /><Relationship Type="http://schemas.openxmlformats.org/officeDocument/2006/relationships/tableStyles" Target="/ppt/tableStyles.xml" Id="R8791a28bb94e4aea" /><Relationship Type="http://schemas.openxmlformats.org/officeDocument/2006/relationships/slide" Target="/ppt/slides/slide1.xml" Id="Rfc5f8b01d2c240cf" /><Relationship Type="http://schemas.openxmlformats.org/officeDocument/2006/relationships/slide" Target="/ppt/slides/slide2.xml" Id="R1f6e58928b6744db" /><Relationship Type="http://schemas.openxmlformats.org/officeDocument/2006/relationships/slide" Target="/ppt/slides/slide3.xml" Id="R7a0d91b650574e17" /><Relationship Type="http://schemas.openxmlformats.org/officeDocument/2006/relationships/slide" Target="/ppt/slides/slide4.xml" Id="R0dd93b86ead846ba" /><Relationship Type="http://schemas.openxmlformats.org/officeDocument/2006/relationships/slide" Target="/ppt/slides/slide5.xml" Id="Rc425468334564d03" /><Relationship Type="http://schemas.openxmlformats.org/officeDocument/2006/relationships/slide" Target="/ppt/slides/slide6.xml" Id="Re6382d140c494e18" /><Relationship Type="http://schemas.openxmlformats.org/officeDocument/2006/relationships/slide" Target="/ppt/slides/slide7.xml" Id="R8f1b6edcaeab456f" /><Relationship Type="http://schemas.openxmlformats.org/officeDocument/2006/relationships/slide" Target="/ppt/slides/slide8.xml" Id="R0b0578092c164a3f" /><Relationship Type="http://schemas.openxmlformats.org/officeDocument/2006/relationships/slide" Target="/ppt/slides/slide9.xml" Id="R9b3cefc2f8b94bbf" /><Relationship Type="http://schemas.openxmlformats.org/officeDocument/2006/relationships/slide" Target="/ppt/slides/slide10.xml" Id="R280793626e2e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9f7a2c7e2f7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972ab8c264cd6" /><Relationship Type="http://schemas.openxmlformats.org/officeDocument/2006/relationships/notesMaster" Target="/ppt/notesMasters/notesMaster1.xml" Id="R38de57179dbc46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fb0bf5e2a04bbf" /><Relationship Type="http://schemas.openxmlformats.org/officeDocument/2006/relationships/notesMaster" Target="/ppt/notesMasters/notesMaster1.xml" Id="R59b6b6874c6147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24343f10ba4b7b" /><Relationship Type="http://schemas.openxmlformats.org/officeDocument/2006/relationships/notesMaster" Target="/ppt/notesMasters/notesMaster1.xml" Id="R07eff0c04968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17be50a2d240c2" /><Relationship Type="http://schemas.openxmlformats.org/officeDocument/2006/relationships/notesMaster" Target="/ppt/notesMasters/notesMaster1.xml" Id="Rb59a40e1a01e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3383c8176490b" /><Relationship Type="http://schemas.openxmlformats.org/officeDocument/2006/relationships/notesMaster" Target="/ppt/notesMasters/notesMaster1.xml" Id="Ra0797cf83b02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3911a72ba04d01" /><Relationship Type="http://schemas.openxmlformats.org/officeDocument/2006/relationships/notesMaster" Target="/ppt/notesMasters/notesMaster1.xml" Id="R6e45881576b14e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8d250cbb634edc" /><Relationship Type="http://schemas.openxmlformats.org/officeDocument/2006/relationships/notesMaster" Target="/ppt/notesMasters/notesMaster1.xml" Id="Rb62f5c590ba54d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8b014f0d37438f" /><Relationship Type="http://schemas.openxmlformats.org/officeDocument/2006/relationships/notesMaster" Target="/ppt/notesMasters/notesMaster1.xml" Id="R5169f546db264c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99cf055dc74152" /><Relationship Type="http://schemas.openxmlformats.org/officeDocument/2006/relationships/notesMaster" Target="/ppt/notesMasters/notesMaster1.xml" Id="R7d75456c83f949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898c22b6ce4375" /><Relationship Type="http://schemas.openxmlformats.org/officeDocument/2006/relationships/notesMaster" Target="/ppt/notesMasters/notesMaster1.xml" Id="R77fe9f030682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e9959a73a47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2d8d4345314f09" /><Relationship Type="http://schemas.openxmlformats.org/officeDocument/2006/relationships/slideLayout" Target="/ppt/slideLayouts/slideLayout2.xml" Id="R18fdb9e8f76640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db9e8f76640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1d9360a4249e2" /><Relationship Type="http://schemas.openxmlformats.org/officeDocument/2006/relationships/image" Target="/ppt/media/image.png" Id="Rb99d3427d318427e" /><Relationship Type="http://schemas.openxmlformats.org/officeDocument/2006/relationships/notesSlide" Target="/ppt/notesSlides/notesSlide1.xml" Id="R6e381e33164c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dbc52ee7844095" /><Relationship Type="http://schemas.openxmlformats.org/officeDocument/2006/relationships/notesSlide" Target="/ppt/notesSlides/notesSlide2.xml" Id="Reba646b59fdd42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4bdd53b7444dc7" /><Relationship Type="http://schemas.openxmlformats.org/officeDocument/2006/relationships/notesSlide" Target="/ppt/notesSlides/notesSlide3.xml" Id="R0f8ff30b58a3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35656fb8e4e69" /><Relationship Type="http://schemas.openxmlformats.org/officeDocument/2006/relationships/notesSlide" Target="/ppt/notesSlides/notesSlide4.xml" Id="R7501deeb70f640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27dff41aa42f8" /><Relationship Type="http://schemas.openxmlformats.org/officeDocument/2006/relationships/notesSlide" Target="/ppt/notesSlides/notesSlide5.xml" Id="Rd0c6a70b054f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31cca9b194fa4" /><Relationship Type="http://schemas.openxmlformats.org/officeDocument/2006/relationships/notesSlide" Target="/ppt/notesSlides/notesSlide6.xml" Id="R1b54e6d28ae6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a958371c046da" /><Relationship Type="http://schemas.openxmlformats.org/officeDocument/2006/relationships/notesSlide" Target="/ppt/notesSlides/notesSlide7.xml" Id="Rd5748b3b6d2e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cb485af1e4407" /><Relationship Type="http://schemas.openxmlformats.org/officeDocument/2006/relationships/notesSlide" Target="/ppt/notesSlides/notesSlide8.xml" Id="R26ce248e02684f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986c8ec69f4835" /><Relationship Type="http://schemas.openxmlformats.org/officeDocument/2006/relationships/notesSlide" Target="/ppt/notesSlides/notesSlide9.xml" Id="Rc4565b107bb4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e89648120c4b9c" /><Relationship Type="http://schemas.openxmlformats.org/officeDocument/2006/relationships/notesSlide" Target="/ppt/notesSlides/notesSlide10.xml" Id="R03b4049a7fa847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3B0C98-7B5C-41BF-BD2F-CFF6731E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06C7B-AB78-4BAE-8684-FF8472C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9F63B4-7C87-49BC-935B-08E9B9A3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1AF5CC8-8531-4B74-99BF-C3C9FFDD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PEAKFORM CODE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97768-CD2C-48A3-9227-A85DF17A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590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PeakForm is a complete form workflow,</a:t>
            </a:r>
          </a:p>
          <a:p xmlns:a="http://schemas.openxmlformats.org/drawingml/2006/main">
            <a:pPr algn="l">
              <a:defRPr sz="270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not only a UI builder.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F4D5C-3683-45B6-BE5D-5D05F007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A pnpm/Turborepo app that covers creator setup, public response capture, owner review, API docs, and database-backed form lifecycle.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7023A-F7E4-4A64-A6E6-A41110C1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D3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d3427d318427e"/>
          <a:stretch xmlns:a="http://schemas.openxmlformats.org/drawingml/2006/main"/>
        </p:blipFill>
        <p:spPr>
          <a:xfrm xmlns:a="http://schemas.openxmlformats.org/drawingml/2006/main">
            <a:off x="7681632" y="800100"/>
            <a:ext cx="3115235" cy="2647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8ADA5-B957-4F6F-8E2A-5D7EB64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8"/>
          </a:solidFill>
          <a:ln xmlns:a="http://schemas.openxmlformats.org/drawingml/2006/main" w="9525">
            <a:solidFill>
              <a:srgbClr val="D7EA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2ABD1-04AB-4103-9A04-A70106B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NEXT.JS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248C7-E447-4268-A987-39C6C7A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43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E5EE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02C28-ADA9-4367-8C61-04B1FBE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5277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5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6536A"/>
                </a:solidFill>
                <a:latin typeface="Aptos Mono"/>
                <a:ea typeface="Aptos Mono"/>
                <a:cs typeface="Aptos Mono"/>
              </a:rPr>
              <a:t>EXPRESS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3AE20-EE42-415A-90D9-07AC66E2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1D5"/>
          </a:solidFill>
          <a:ln xmlns:a="http://schemas.openxmlformats.org/drawingml/2006/main" w="9525">
            <a:solidFill>
              <a:srgbClr val="F0E1D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0672B-31EF-4E61-9102-5F6A6046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527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4D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A4D2A"/>
                </a:solidFill>
                <a:latin typeface="Aptos Mono"/>
                <a:ea typeface="Aptos Mono"/>
                <a:cs typeface="Aptos Mono"/>
              </a:rPr>
              <a:t>TRPC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AED0A-B6CE-438C-8D4E-4D9D75D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8"/>
          </a:solidFill>
          <a:ln xmlns:a="http://schemas.openxmlformats.org/drawingml/2006/main" w="9525">
            <a:solidFill>
              <a:srgbClr val="D7EA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C6897-BDE0-44CE-8919-F0B43066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5277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DRIZZLE POSTGRES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96FB6-2B2F-4230-BE1D-8ED911E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1106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39965-C5D2-4CBD-82C0-87F95840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5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5D3B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A6835-43F3-4BD0-9031-9FE01DCC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SUPPORTED FIELD TYPES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3C444-BAF5-4EDE-9C81-07005B85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52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6536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6536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9A5E1-9D9B-49ED-8D55-21D89984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625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API SURFACES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BBAE1-FF8A-4840-8178-63DE6F18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52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4D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A4D2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C5858-041C-426C-8B38-2734E2E9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625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CORE DB MODELS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EA77B-504B-4586-8484-A061D04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52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08B5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08B5B"/>
                </a:solidFill>
                <a:latin typeface="Aptos Display"/>
                <a:ea typeface="Aptos Display"/>
                <a:cs typeface="Aptos Display"/>
              </a:rPr>
              <a:t>10/min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31139-59E5-4818-9290-8F014151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625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PUBLIC SUBMIT LIMIT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2148C-DA2D-47E2-8115-0CC4495C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52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5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5D3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014FC-A712-4F6B-8A02-D3B63554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6252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SHARED ROUTER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D15F0E-3C3B-4610-BB80-85065E1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Sources: README.md, packages/trpc/server/index.ts, packages/database/models, form-submission route</a:t>
            </a:r>
          </a:p>
        </p:txBody>
      </p:sp>
    </p:spTree>
    <p:extLst>
      <p:ext uri="{BB962C8B-B14F-4D97-AF65-F5344CB8AC3E}">
        <p14:creationId xmlns:p14="http://schemas.microsoft.com/office/powerpoint/2010/main" val="30939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8D5A3-17AE-440F-BE09-785EA51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3AC08-3FFD-4261-A027-B82F941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E4CBD-EF1D-4F85-AEE7-4EFB7FE6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1D5BD-7087-45A8-B012-99EF34F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7F0CC5-9DC6-4544-8E56-D4FD8864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C9D455-6F0A-429C-A9F7-0E9C2FB6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42BF9-DE98-4631-877B-0F9D3BE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Form work breaks when each step lives in a different tool.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DFE2A-70E0-45CF-A9B3-A455722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PeakForm targets the everyday mess behind forms: building questions, sharing links, enforcing validation, collecting responses, and turning raw answers into usable owner views.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6F4C6-C0C8-4C5D-86A8-9F3EBA44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41D47-EA3A-4C76-B46E-C4301547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24D01-CAD0-4896-A65F-6B8C993D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5B"/>
          </a:solidFill>
          <a:ln xmlns:a="http://schemas.openxmlformats.org/drawingml/2006/main" w="0">
            <a:solidFill>
              <a:srgbClr val="D08B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84567-D326-4CDE-A035-B0E72572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Manual form setup,</a:t>
            </a:r>
          </a:p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no reusable field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B4F21-093C-4DFC-B7F0-D6137F1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Usually handled elsewhere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2E889-7EFA-4A21-801A-2EDF353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FE0B4-DF99-4222-9AE1-38F0343A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Share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3537E-3360-4A74-8A8D-1D807E72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5B"/>
          </a:solidFill>
          <a:ln xmlns:a="http://schemas.openxmlformats.org/drawingml/2006/main" w="0">
            <a:solidFill>
              <a:srgbClr val="D08B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56AB5-4694-43CE-BAC3-180ACF74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Links, slugs, QR,</a:t>
            </a:r>
          </a:p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visibility and passwords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F0031-3582-4421-9F1B-108C2593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Usually handled elsewhere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F76E0-8156-468C-B41C-2D2AAEF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74BE0-25D4-4A23-A1C5-4BD3892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7BBCC-5807-4081-8A94-AB79FA6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5B"/>
          </a:solidFill>
          <a:ln xmlns:a="http://schemas.openxmlformats.org/drawingml/2006/main" w="0">
            <a:solidFill>
              <a:srgbClr val="D08B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DD70D-6942-461C-9DEE-042A194D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Required fields,</a:t>
            </a:r>
          </a:p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conditions, types, limits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6A1B6-3BAE-4FA9-9B48-1D089B3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Usually handled elsewhere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EE641-ECEC-41A4-8844-CAE0709C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E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F8F0E-0A55-4775-A3FF-F8D50F7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A214B-4353-45F6-AD72-97DBD6D4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5B"/>
          </a:solidFill>
          <a:ln xmlns:a="http://schemas.openxmlformats.org/drawingml/2006/main" w="0">
            <a:solidFill>
              <a:srgbClr val="D08B5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A9F13-4F18-4F5F-BFE8-661F3C89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576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Review table,</a:t>
            </a:r>
          </a:p>
          <a:p xmlns:a="http://schemas.openxmlformats.org/drawingml/2006/main">
            <a:pPr algn="l">
              <a:defRPr sz="13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filters, charts, CSV export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AE9A6-312B-4ECD-9DC8-A0434774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7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Usually handled elsewhere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513DE-3F25-419F-A222-487CB1B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7"/>
          </a:solidFill>
          <a:ln xmlns:a="http://schemas.openxmlformats.org/drawingml/2006/main" w="0">
            <a:solidFill>
              <a:srgbClr val="C9D2C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E6610-6B42-43BB-AC4E-87F04C24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Product requirement: keep these stages connected to the same form definition and owner permissions.</a:t>
            </a:r>
          </a:p>
        </p:txBody>
      </p:sp>
    </p:spTree>
    <p:extLst>
      <p:ext uri="{BB962C8B-B14F-4D97-AF65-F5344CB8AC3E}">
        <p14:creationId xmlns:p14="http://schemas.microsoft.com/office/powerpoint/2010/main" val="3488342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4F511-A95C-4FE7-B4A1-76917BA0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DF18F-810F-452B-A777-20A24E4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9A71F-4DBE-4C0C-9198-67285013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F8489-4C84-47CF-BCFA-7C8AFE51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802835-396D-44BB-B85C-4DBDDFC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7B11B7-99BC-4252-8AF3-E6C34687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SOLUTION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42582-E25B-44B0-9676-A22300A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code closes the loop from builder to respondent to owner insight.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843C4-E09C-40F5-85B1-3E3A9FD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52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The important design choice is not one feature; it is one continuous lifecycle backed by routes, services, validation, and persisted form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82760-2788-4C2F-81C2-791C91E9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9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34BCA-F65B-4FD6-A105-620C548E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30BFB-63C1-40AA-96F1-DB228F14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Create/list 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D4525-3459-42FB-A2E1-8847340F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66950"/>
            <a:ext cx="179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1FFA1-52B1-4A02-BBE4-FECB7A4B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C50C7-1715-40ED-B0CE-03C3F80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Fields, settings,</a:t>
            </a:r>
          </a:p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publish,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9096A-88ED-410F-A91C-65BC2DC0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179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19014-35C6-4F15-A382-93F8E38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990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Public page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135BD-0068-42AF-829B-1F2D0893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147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Render form by</a:t>
            </a:r>
          </a:p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slug or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8E7AC-A1D0-4D27-8ACA-7A5DB7C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179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E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024D4-039A-4D5C-9597-9174B091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833E0-93F0-4D20-BBC6-C147AD4D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Validate and</a:t>
            </a:r>
          </a:p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store answers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26AA2-FD7F-4261-B9B0-7A84512A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86300"/>
            <a:ext cx="179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92ADA-B7F9-4F4F-8D1B-F04CFF1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0060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Owner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E2071-5F4A-43D8-82D3-F6CF9E7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054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Table, analytics,</a:t>
            </a:r>
          </a:p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CSV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0FD6D-A0DB-4F51-BC89-A99EE575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179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BB625-9CBA-4138-B4DC-9012DAC1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0060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D3B"/>
                </a:solidFill>
                <a:latin typeface="Aptos"/>
                <a:ea typeface="Aptos"/>
                <a:cs typeface="Aptos"/>
              </a:rPr>
              <a:t>Admin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5E516-0455-426B-9695-EDDC944B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54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Platform totals</a:t>
            </a:r>
          </a:p>
          <a:p xmlns:a="http://schemas.openxmlformats.org/drawingml/2006/main">
            <a:pPr algn="ctr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for seeded admin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6E63D-7178-4C82-9F76-8692C56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9DE39-A8BB-434D-8DED-FACB12FC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4D40D-3F2E-42AB-A2B2-3FE4B93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3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B0C5A-0AA4-4213-8B3E-827A0062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11F51-F9BC-4242-8E4D-2689E10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1DEAE-7E61-4CD1-974B-47536EB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DCA30-05B5-45A8-A79E-8608383F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9525">
            <a:solidFill>
              <a:srgbClr val="17211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29C85-71ED-4710-AFFD-96D66F67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2400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form id / slug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owner scope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schema contract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C7D3D0-0114-4A51-8BB3-978549C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721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0F3BC1-85DB-4DE8-93A9-8D4135F1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721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apps/web + packages/trpc + services + database</a:t>
            </a:r>
          </a:p>
        </p:txBody>
      </p:sp>
    </p:spTree>
    <p:extLst>
      <p:ext uri="{BB962C8B-B14F-4D97-AF65-F5344CB8AC3E}">
        <p14:creationId xmlns:p14="http://schemas.microsoft.com/office/powerpoint/2010/main" val="18444325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42CBB6-E84B-4C8E-A159-2F13294B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FAB0F-D5A0-4D9B-95C0-9EE33DB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EBDF5-DA6B-4F13-AECA-E39F322C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A4672-C47E-42E0-B781-F0320149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6D55E7-4389-4C4C-9C3F-1F5DF0D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4B1099-0CE4-41FF-ACF1-CC590FD0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6657D-2068-4BBB-9EB7-75FCA87A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monorepo keeps UI, API contracts, services, and schema moving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09362-8704-4144-98E0-A413F514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README and package files show a single pnpm/Turbo workspace with separate apps and shared packages, which is exactly what a form platform needs as features cross layers.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99A90-3AEF-4DEA-B5EB-89E4C85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C3D81-BFF6-4E61-98E9-6D7F274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apps/web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BF09C-80E9-4208-8572-1570614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Next.js 16, React 19, Tailwind, shadcn/Radix-style UI, TanStack Query, tRPC React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63202-3910-49A6-A1B7-04256A4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76677-D631-43E9-9636-671C07D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packages/trpc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F533C-B874-439B-BFD1-ACEA9A2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serverRouter, public/authenticated procedures, context, shared client types, OpenAPI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BDFB1-D99D-4C87-A317-3DF65B31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1090E-2F6F-4E8A-B209-4436B984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apps/api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76F01-EE24-4F43-B6E2-0603489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Express 5 mounts /trpc, /api, /openapi.json, /docs with CORS and auth cookies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8217E-2161-487B-A863-ECDC4E5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E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F3C7E-D71D-41F3-8568-2DEF56F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packages/services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FA201-0B2F-4941-8624-F0D70CD4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Business logic for auth, forms, fields, submissions, analytics, CSV, email notifications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E849D-77F4-4F7B-8C74-648FFE40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C9D2C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7B621-2F65-44B3-9096-D9B10BD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packages/database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AF5FE-2972-4271-BF63-D4019C3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PostgreSQL models, Drizzle ORM, Drizzle Kit migrations, seed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0A0AD-3DFB-4EE0-8923-1879C483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436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B5B75-331B-449C-934B-09C44F47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436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pnpm dev -&gt; dotenv -- turbo dev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9C20E-68AE-4A10-8933-B8934DE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43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F24D2-A47F-449F-8131-6E131ABB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43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pnpm db:migrate -&gt; Drizzle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5B305-B260-456A-B5B8-F594C92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43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7B70A-EF5C-4DD7-8FC5-71401409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43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pnpm check-types -&gt; Turbo</a:t>
            </a:r>
          </a:p>
        </p:txBody>
      </p:sp>
    </p:spTree>
    <p:extLst>
      <p:ext uri="{BB962C8B-B14F-4D97-AF65-F5344CB8AC3E}">
        <p14:creationId xmlns:p14="http://schemas.microsoft.com/office/powerpoint/2010/main" val="19575257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8B4350-A8E0-45E4-B8D0-9666F407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00A41-DFFB-45BE-97EB-1A4048F8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B0953-0BC7-45D6-9533-B1E9A862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A4781-87C4-4059-BF45-20CB6649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F6BF36-6542-4C6E-A914-3F6EF2B1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B860A1-0BA7-4214-8FDA-0A4EDD72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API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102FA-60C8-4F7F-B90E-3A75A890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One router feeds both typed tRPC calls and documented REST-style endpoints.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4E8AF-AE1C-4928-B014-D30B7B8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`apps/api/src/server.ts` mounts the same `serverRouter` at `/trpc` and `/api`, then exposes `/openapi.json` and Scalar docs from route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B69AE-DBC4-4FE3-8188-8C89D221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44B24-07CB-40E0-A3F0-FCA1E16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Next.js web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React Query hooks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ED088-3941-43CE-A92A-69E22B8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813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804FF-2636-416E-AB3B-06A11D5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575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tRPC client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credentials included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BFBE1-1163-4CB6-9341-EC037825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2343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9525">
            <a:solidFill>
              <a:srgbClr val="17211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3146C-9240-42F5-9823-D3BA2AC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3370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serverRouter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 | auth | form | formSubmission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5FB2E-58B0-4B77-95BF-08C76281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A04EE-39DF-4DB0-817E-9FC3C13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Express /trpc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createExpressMiddleware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86BB4-5FEA-4F9F-ADC9-9022D09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E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0969F-9613-4A5F-B94E-D98AC3E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33800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Express /api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OpenAPI REST middleware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EC173-E750-44A6-8E6E-6514E7BC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AF99D-1F00-44D5-8FB8-341DD36A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623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D0C7F-E6BA-4824-80EA-DB68DF1E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8A0B6-9269-43D5-A60E-458DF601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A742-21BD-484A-B96C-57F8D737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AC0D6-2DB5-4125-BF23-A12AEDB3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packages/trpc/server/index.ts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7D6D3-11ED-49FA-A77B-39965FFC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8258C-4BC3-4183-AFA7-AD3126AA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GET /openapi.json + /docs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C55DC-FE6F-4B66-9822-D3E89428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994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A0029-C162-4676-B35E-BBCB88CF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48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Result: frontend keeps end-to-end types while external consumers can inspect OpenAPI/Scalar docs from the same procedure definitions.</a:t>
            </a:r>
          </a:p>
        </p:txBody>
      </p:sp>
    </p:spTree>
    <p:extLst>
      <p:ext uri="{BB962C8B-B14F-4D97-AF65-F5344CB8AC3E}">
        <p14:creationId xmlns:p14="http://schemas.microsoft.com/office/powerpoint/2010/main" val="17414062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A4FEC-39B0-4D85-BB83-060E52D4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3FB3C-99F1-4D5B-81D0-58D8E2A8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86F4F-B70F-4BFA-A5CE-19DF6AE2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2405F-DC1E-4987-874C-CD0BC5AE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33FDB8-8C58-40D4-9894-AA683C1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C7DAA3-9C74-4ADD-8177-DCAA303E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EF7C0-3EC4-4A1A-A9B1-E2DA28F4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schema stores lifecycle, field rules, and responses without losing type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90453-7D1E-4EBC-81F2-30DA827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71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Drizzle models encode the product concepts directly: status, visibility, custom slugs, theme settings, field validation, conditional logic, and submission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BE6A0-5C8F-4CC2-B05B-C41126E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343AD-96B1-48CC-8276-A1C072F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id, email,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2F462-0640-4C63-B4A1-FD7BF4C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324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FDF60-B1A6-48CC-A44E-420E398E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171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forms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status, visibility, slug,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pageSize, passwordHash,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themeConfig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77859-DB2A-4B72-A628-61BA185C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32393-0514-4CBD-9050-69FA2413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2228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form_fields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11 field types,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options, min/max,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validationRules JSONB,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conditionalLogic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8DFB-A674-4D4F-8839-4A20225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E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1CE1A-E096-4065-A2E6-A7DB425D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1638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form_submissions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formId + values[]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E750-9025-4EED-BDCA-A394EAF0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242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135B7-43AF-4902-B1C3-62D2C302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79D4D-BA3E-4423-9E11-CB285321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151C1-268F-4E64-AD1E-4ED9E93B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5755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creatorId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A3E49-4787-4071-882A-EF585122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5A3CE-6F3D-4581-88A1-DAF49722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CF686-F1BD-4942-92F3-18C8397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9848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B348E-87A3-4527-BCE8-4E2F62E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Product impact: the public page can render exactly what the owner configured, and submissions can be rejoined to field labels for readable review/export.</a:t>
            </a:r>
          </a:p>
        </p:txBody>
      </p:sp>
    </p:spTree>
    <p:extLst>
      <p:ext uri="{BB962C8B-B14F-4D97-AF65-F5344CB8AC3E}">
        <p14:creationId xmlns:p14="http://schemas.microsoft.com/office/powerpoint/2010/main" val="1671982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4356C-A43D-4426-8C4E-B0FF713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9C24D-2298-469E-95F1-632BB71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C7761-5AC5-424B-80D1-35445262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7460D-72B7-4C6C-B683-1BE96278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272A0D1-1FF1-4DFE-A49D-6BA1FCC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F4EFE8-03B6-478A-84BB-F40C176E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BUILDER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AC24A-CD9C-4A42-9DB5-E301246A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dashboard is wired as a real owner workflow, not a static form editor.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D6FDA-13B4-48AB-903B-E5F3ACC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The editor route combines settings, field CRUD, publish controls, public sharing, QR generation, preview, clone, archive, and submissions navigation.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FCAD2-5373-4B18-A376-A22B4A4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User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55C48-9FB9-4349-A669-6E1B64A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1E7A6-82FB-4981-A3B3-6F4A1471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Client hook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F2F4F-3645-4427-AA1C-29BD1291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tRPC procedure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5544D-CAF8-4609-B482-1DE2FCC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4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8E4C9-E903-4D7E-BE4E-CD23EEC6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Create/list/delete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AC373-E441-44B1-9110-F1C5E6F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/dashboard/forms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C37B9-6E32-403D-A7AD-B0916CA6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useCreateForm, useListForms, useDeleteForm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AC63F-1EC5-4E1D-AB1E-578B4C2D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860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form.createForm, form.listForms, form.deleteForm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FAC9B-FDBD-49DE-B36D-E329A923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4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51019-1236-46C2-80C4-95030C8F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Configure 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8AB32-98FD-4119-921D-C45CC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385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/dashboard/forms/[id]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077A4-DDCB-48BE-B75F-0560996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385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useUpdateFormSettings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4B0DF-CB67-45E9-AA15-CE70CD6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3852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form.updateFormSettings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B9614-72E6-4291-8F7A-27CE8E55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64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779CB-E5F3-420C-B500-5C2C912E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Build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C1C0F-BA35-4AAE-ABFC-7A0BED85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909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/dashboard/forms/[id]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BED6D-4BE6-4E5F-B69C-989F607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909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useCreateField, useUpdateField, useDeleteField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49EDE-876F-4017-8577-3B0737E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909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form.createField/updateField/deleteField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777EC-724B-45F3-B9C4-4D4201A8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4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809D8C-EC2C-4FCE-95EB-6D2B811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Publish/share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1E4EE-C30A-48C8-B12C-A951E4C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434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/dashboard/forms/[id]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7B23C-641A-4390-B53F-C568434B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434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usePublishForm, useUnpublishForm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99FE9-1FD8-4D78-A180-14D70A53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4342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form.publishForm, form.unpublishForm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2ACF5-D323-42B8-8CFC-0BA0401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4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A5CC96-4E32-4F7B-BF54-14B5AEF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Clone/archive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A1A32-EF28-4166-9EC9-9D7C9FA7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958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/dashboard/forms/[id]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023C8-3708-4EB9-9C1C-E412721F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useCloneForm, useArchiveForm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22FFF2-3E1B-4501-A269-0279C63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958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95F"/>
                </a:solidFill>
                <a:latin typeface="Aptos Mono"/>
                <a:ea typeface="Aptos Mono"/>
                <a:cs typeface="Aptos Mono"/>
              </a:rPr>
              <a:t>form.cloneForm, form.archiveForm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F56E9-61A3-4A26-BFE3-6901E27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55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B73700-D9A6-43A0-B487-952A2455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55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apps/web/hooks/api/form/index.ts bridges UI to shared router types</a:t>
            </a:r>
          </a:p>
        </p:txBody>
      </p:sp>
    </p:spTree>
    <p:extLst>
      <p:ext uri="{BB962C8B-B14F-4D97-AF65-F5344CB8AC3E}">
        <p14:creationId xmlns:p14="http://schemas.microsoft.com/office/powerpoint/2010/main" val="16441402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1376F-F00B-4133-9577-73CC6ED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F8582-34A6-4CA4-884C-7FD84763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15E6A-E919-423A-A6EA-0B299345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84D47-FD75-4029-94F9-A3D6A0E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3CBC4F-DF9A-4019-9BB8-3891D62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883455-8106-4688-82D0-238B503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PUBLIC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B5D75-D533-4028-B349-D9DA5536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Respondent input is checked against the live form definition before it is stored.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A1FDD-49F4-438E-BD93-FF3EE88F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The public endpoint is intentionally public, but it still enforces rate limits, form status, expiry, password protection, field ownership, conditional visibility, required fields, types, ranges, and options.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B1C1D-A991-4275-8699-EA413EB2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0170C-7373-4766-8C8C-22EDD61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Public page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Render `/form/[form_id]`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from slug or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E8470-0A9F-41D6-BB29-9657CF07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575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303D0-F855-49DF-B23C-5DE89DBB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D53C3-36DA-4182-9490-C794DF4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Rate limit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10 requests / IP /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60-second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227CC-4C31-4138-BBD7-C68BDAF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86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DDAD1-9089-4D48-AB5A-2DD92405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54C4-70BF-4618-BC45-AFA1E90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 gate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published, unexpired,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password verified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2FF91-398F-4BAE-8C5E-09B9DD4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58F1D-5D77-4748-ACED-1CFFF8B6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5DFBF-AA67-435D-982E-A6352FC8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Field gate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belongs to form,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visible condition passes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ADB43-5407-4185-B4E5-A645A38A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AEF80-E6D0-482A-8ADE-DCD85091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526B9-1D7D-42F7-AD30-029F8F24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Value gate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required, type,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options, min/max, regex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B6CD0-7361-417B-A848-5CD3793C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E2AE0-A808-4AD4-A755-2DE5E012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528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7A0FE-B14A-47D5-8ACF-8B763959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Persist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insert JSON values</a:t>
            </a:r>
          </a:p>
          <a:p xmlns:a="http://schemas.openxmlformats.org/drawingml/2006/main">
            <a:pPr algn="ctr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and send email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492F9-3342-486C-BA63-7F4FF34A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8B47E-57B5-4B0E-80A6-218CE4F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927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This solves the hardest form-builder risk: public submissions cannot invent fields, skip visible required fields, or write to a draft/expired/protected form.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ACF61-4F9D-4655-947D-5485A0B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245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9525">
            <a:solidFill>
              <a:srgbClr val="D4DF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367934-7097-4CA0-9264-3A0BE42A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245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packages/services/form-submission/index.ts</a:t>
            </a:r>
          </a:p>
        </p:txBody>
      </p:sp>
    </p:spTree>
    <p:extLst>
      <p:ext uri="{BB962C8B-B14F-4D97-AF65-F5344CB8AC3E}">
        <p14:creationId xmlns:p14="http://schemas.microsoft.com/office/powerpoint/2010/main" val="18672790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93578-F9DB-4BA9-ABE8-C6CFDC84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7E539-51A7-400B-82C0-0D72A23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FDEB8-9745-4CE0-BA32-5A37868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PeakForm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DAA41-8343-40EE-91F0-A31D5553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ECDFD1-3528-449E-B83F-2C73B1C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391DDE-A609-4AD9-862A-101E5B1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F5D3B"/>
                </a:solidFill>
                <a:latin typeface="Aptos Mono"/>
                <a:ea typeface="Aptos Mono"/>
                <a:cs typeface="Aptos Mono"/>
              </a:rPr>
              <a:t>OWNER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ABC1E-CDCD-4832-BFDA-D602BFF7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Responses are shaped back into owner-readable review and export surfaces.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91875-0B8B-4212-ACC6-DC4AF337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5F"/>
                </a:solidFill>
                <a:latin typeface="Aptos"/>
                <a:ea typeface="Aptos"/>
                <a:cs typeface="Aptos"/>
              </a:rPr>
              <a:t>The submission service joins through forms for owner scope, paginates/filter-searches rows, computes analytics, returns single submissions, deletes owner-owned rows, and emits CSV.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19975-1B75-4B40-9CD7-AA7D252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866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E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5836C-8AB0-43D1-983C-A06F7F9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form_submissions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raw JSON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D641A-D6F9-4FF3-83F6-3B21A999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19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519EE-E477-4AF9-86D7-CF7D9C21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2038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4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A6FBE-3974-4706-820E-149C605C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885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owner scope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forms.creatorId = userId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7ED44-2289-4C4F-BD21-B4CEE7D9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19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86ADF-FD80-4FCB-9B62-B835F35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19450"/>
            <a:ext cx="1866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9"/>
          </a:solidFill>
          <a:ln xmlns:a="http://schemas.openxmlformats.org/drawingml/2006/main" w="9525">
            <a:solidFill>
              <a:srgbClr val="B9C5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82C22-AF35-4BBA-9C7E-FA7E152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field labels</a:t>
            </a:r>
          </a:p>
          <a:p xmlns:a="http://schemas.openxmlformats.org/drawingml/2006/main">
            <a:pPr algn="ctr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map values to columns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5166E-925C-4545-B5B2-CA54458D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3B"/>
          </a:solidFill>
          <a:ln xmlns:a="http://schemas.openxmlformats.org/drawingml/2006/main" w="0">
            <a:solidFill>
              <a:srgbClr val="2F5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C09FD-DC9D-4729-980F-CAD9052B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476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9525">
            <a:solidFill>
              <a:srgbClr val="17211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13D5B-BCC1-4BDF-8927-24B4F8EF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E2397-A254-4D2C-A31C-60A8081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table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pagination + search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analytics trend/distribution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CSV export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delete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BDCC5-2C9A-479D-AC36-16B6BC8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F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49850-61F2-4F31-9073-3D9B3A7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The solution is not just collection: it turns response data into operational views while keeping access tied to the form owner.</a:t>
            </a:r>
          </a:p>
        </p:txBody>
      </p:sp>
    </p:spTree>
    <p:extLst>
      <p:ext uri="{BB962C8B-B14F-4D97-AF65-F5344CB8AC3E}">
        <p14:creationId xmlns:p14="http://schemas.microsoft.com/office/powerpoint/2010/main" val="18864591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A6EC9-891D-403E-92ED-680C30A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F4EDA-5498-4E47-BDB4-F80DDA9D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DC448-ADFF-4359-8BB6-50993B5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4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46C"/>
                </a:solidFill>
                <a:latin typeface="Aptos"/>
                <a:ea typeface="Aptos"/>
                <a:cs typeface="Aptos"/>
              </a:rPr>
              <a:t>Source: README.md and current code scan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E4F98-4528-41CA-99CD-9F42CFEA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46C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4EE801-9D4D-42F0-B89D-6D5AD76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A45727-226F-45D7-B954-D1E16239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EAD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EAD8"/>
                </a:solidFill>
                <a:latin typeface="Aptos Mono"/>
                <a:ea typeface="Aptos Mono"/>
                <a:cs typeface="Aptos Mono"/>
              </a:rPr>
              <a:t>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B4F1F-9662-4C6B-994C-19125AE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PeakForm already has the right full-stack backbone; the next work is hardening.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EC141-EC9C-4BC4-A501-0CA1D670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71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ED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DED5"/>
                </a:solidFill>
                <a:latin typeface="Aptos"/>
                <a:ea typeface="Aptos"/>
                <a:cs typeface="Aptos"/>
              </a:rPr>
              <a:t>The repository shows an end-to-end feature slice across frontend, contracts, API, service validation, database, docs, and local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F23D9-C802-4131-8631-74A0F8E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9"/>
          </a:solidFill>
          <a:ln xmlns:a="http://schemas.openxmlformats.org/drawingml/2006/main" w="9525">
            <a:solidFill>
              <a:srgbClr val="4052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B220B-B8C3-4B6B-9172-D443C42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953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9"/>
          </a:solidFill>
          <a:ln xmlns:a="http://schemas.openxmlformats.org/drawingml/2006/main" w="9525">
            <a:solidFill>
              <a:srgbClr val="4052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65887-E1C0-4424-A534-F6F92945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EA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7EAD8"/>
                </a:solidFill>
                <a:latin typeface="Aptos"/>
                <a:ea typeface="Aptos"/>
                <a:cs typeface="Aptos"/>
              </a:rPr>
              <a:t>Built in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A27BC-ADB7-4948-B333-DC79CAE2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7B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D7BD"/>
                </a:solidFill>
                <a:latin typeface="Aptos"/>
                <a:ea typeface="Aptos"/>
                <a:cs typeface="Aptos"/>
              </a:rPr>
              <a:t>Best 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EAB17-1669-483B-8167-9F9090F8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Email/password auth with cookie-based dashboard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8FC3F-1D15-4BFF-B276-45158C50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Form lifecycle: draft, publish, unpublish, archive, clone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261D4-5BFA-4EB7-9A0F-72C8BB08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11 field types with options, constraints, and conditional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7488A-30AD-42C5-AC48-CD9A31CE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Public links by id/slug with password and expiry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18855-1514-4D4A-A321-BCA47BA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Submission review, analytics, CSV export, delete, admin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8D441-43D1-48F6-AF22-FB402F8B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OpenAPI JSON and Scalar docs from tRPC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88A49-D1CE-4832-B17C-D356C53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Persist rate limits beyond in-memory storage for production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E2AEE-8C3F-4CA2-AB9A-03046DE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Add stronger audit/history for destructive owner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B2DDC-00A4-455B-A51E-39FF2EF8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Expand private/team access beyond public and unlisted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8ECE2-D0DB-4DF1-9718-2CB3FA41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Add automated integration tests for public submission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1C432-7612-43FD-927F-335F06B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672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Move email delivery to a queue/retry path for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04CCB-9823-4D78-A179-67B4BEB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F4ED"/>
                </a:solidFill>
                <a:latin typeface="Aptos"/>
                <a:ea typeface="Aptos"/>
                <a:cs typeface="Aptos"/>
              </a:rPr>
              <a:t>Add deployment observability around API, DB, and form errors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6FA4F-ADAD-4216-AA1F-A6499C2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57900"/>
            <a:ext cx="767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story: one typed product loop, implemented across the actual monorepo layers.</a:t>
            </a:r>
          </a:p>
        </p:txBody>
      </p:sp>
    </p:spTree>
    <p:extLst>
      <p:ext uri="{BB962C8B-B14F-4D97-AF65-F5344CB8AC3E}">
        <p14:creationId xmlns:p14="http://schemas.microsoft.com/office/powerpoint/2010/main" val="377046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2026-05-27T17:25:27.6430000Z</dcterms:created>
  <dcterms:modified xsi:type="dcterms:W3CDTF">2026-05-27T17:25:27.6440000Z</dcterms:modified>
</coreProperties>
</file>